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320040"/>
            <a:ext cx="3108960" cy="1280160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0" y="4160520"/>
            <a:ext cx="3840480" cy="1554480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02920"/>
            <a:ext cx="2011680" cy="384048"/>
          </a:xfrm>
          <a:prstGeom prst="roundRect">
            <a:avLst/>
          </a:prstGeom>
          <a:solidFill>
            <a:srgbClr val="14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HR Insights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43A"/>
                </a:solidFill>
                <a:latin typeface="Aptos Display"/>
              </a:defRPr>
            </a:pPr>
            <a:r>
              <a:t>A governed, memory-aware HR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5C6E8A"/>
                </a:solidFill>
                <a:latin typeface="Aptos"/>
              </a:defRPr>
            </a:pPr>
            <a:r>
              <a:t>Built for HR leaders and partners who need precise workforce answers, governed reports, polished visuals, and real continuity across prior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554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7" y="1581912"/>
            <a:ext cx="1152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E8A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7" y="1837944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4F93"/>
                </a:solidFill>
                <a:latin typeface="Aptos Display"/>
              </a:defRPr>
            </a:pPr>
            <a:r>
              <a:t>HR-only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17320"/>
            <a:ext cx="1554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5168" y="1581912"/>
            <a:ext cx="1152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E8A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8" y="1837944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Role-based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651760"/>
            <a:ext cx="1554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816352"/>
            <a:ext cx="1152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E8A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72384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4F93"/>
                </a:solidFill>
                <a:latin typeface="Aptos Display"/>
              </a:defRPr>
            </a:pPr>
            <a:r>
              <a:t>Recall-first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651760"/>
            <a:ext cx="1554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816352"/>
            <a:ext cx="1152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6E8A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072384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Visual-ready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0332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Answers HR-only questions with role-aware access controls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Generates workforce reports and executive-ready visual options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Preserves useful context across sessions, recalls saved insights, and explains 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EXECUTIVE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Why this platform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It is designed to feel like an HR analytics workspace, not a generic prompt 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45920"/>
            <a:ext cx="35661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28016" cy="16093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8366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Governed from the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67712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Every request is checked against HR scope, approved business units, and allowed metric domains before meaningful model work begins.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45920"/>
            <a:ext cx="35661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55648"/>
            <a:ext cx="128016" cy="160934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88366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Built for decision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267712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platform answers questions, creates reports, recommends visuals, and helps users reuse prior insights without restarting their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645920"/>
            <a:ext cx="32461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755648"/>
            <a:ext cx="128016" cy="16093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88366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Enterprise-ready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267712"/>
            <a:ext cx="27432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architecture separates UI, policy, orchestration, tool execution, and data access so it can be hardened for regulated environments.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94760"/>
            <a:ext cx="530352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04488"/>
            <a:ext cx="128016" cy="133502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03250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Outcome for the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416552"/>
            <a:ext cx="4800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HR teams spend less time prompt-engineering and more time acting on workforce insights that are already grounded in access controls and prior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94760"/>
            <a:ext cx="5230368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904488"/>
            <a:ext cx="128016" cy="133502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32504"/>
            <a:ext cx="4727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Outcome for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416552"/>
            <a:ext cx="47274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experience is explainable, reusable, and demo-ready: users can move from KPI question to report, chart, and saved recall in a single governed workflow.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WHAT IT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Core feature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The platform combines governed analytics, personalization, and polished output in one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45920"/>
            <a:ext cx="26060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28016" cy="14264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8366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Governed HR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67712"/>
            <a:ext cx="2103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Rejects non-HR asks, resolves role and coverage, and keeps answers inside approved workforce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645920"/>
            <a:ext cx="26060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755648"/>
            <a:ext cx="128016" cy="14264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88366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Reports and exports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267712"/>
            <a:ext cx="2103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Builds employee-level or aggregate reports and asks clarifying questions before generating underspecified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645920"/>
            <a:ext cx="26060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1755648"/>
            <a:ext cx="128016" cy="14264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188366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Visual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267712"/>
            <a:ext cx="2103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Suggests multiple chart options, recommends the strongest one, and reuses the latest table context for visual follow-ups.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645920"/>
            <a:ext cx="224028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1755648"/>
            <a:ext cx="128016" cy="14264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8836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Cached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267712"/>
            <a:ext cx="1737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Reopens saved insights without rerunning the original SQL and lets the user continue naturally.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657600"/>
            <a:ext cx="35204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767328"/>
            <a:ext cx="128016" cy="14264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38953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Personalized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4279392"/>
            <a:ext cx="30175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Headcount anchors the board, favorite topics stay visible, and the center panel adapts to prior HR activity.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657600"/>
            <a:ext cx="352044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3767328"/>
            <a:ext cx="128016" cy="14264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8953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Helpful-answer feedback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279392"/>
            <a:ext cx="30175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Yes/No feedback shapes favorite chats and reusable high-signal examples for future related asks.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1312" y="3657600"/>
            <a:ext cx="324612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3767328"/>
            <a:ext cx="128016" cy="14264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389534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Explainable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4279392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Users can ask how a metric was calculated, which columns were used, and what snapshot caveats apply.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Why it feels cutting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The platform is not one prompt template. It behaves like a governed analytic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45920"/>
            <a:ext cx="6629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Agentic routing before tool use: each turn is classified into modes such as data_query, report, policy, history_lookup, or visual_follow_up.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Multi-layer context assembly: access profile, recent memory, helpful prior answers, context documents, and latest-table state are merged before the answer loop.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Strict relevance instead of noisy memory stuffing: relevant-chat suggestions only surface for strong close matches.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Recall-first UX: saved insights reopen as cached summaries and immediately seed the active session for natural follow-up work.</a:t>
            </a:r>
          </a:p>
          <a:p>
            <a:pPr>
              <a:spcAft>
                <a:spcPts val="600"/>
              </a:spcAft>
              <a:defRPr sz="1700">
                <a:solidFill>
                  <a:srgbClr val="19243A"/>
                </a:solidFill>
                <a:latin typeface="Aptos"/>
              </a:defRPr>
            </a:pPr>
            <a:r>
              <a:t>- Methodology explanations are in-scope: users can ask how a result was calculated and receive a grounded explanation of definition, columns, formula, and caveats.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6118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7848" y="1892808"/>
            <a:ext cx="128016" cy="11978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2082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Not just a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04872"/>
            <a:ext cx="31089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agent chooses tools, reuses memory, validates access, and keeps the live analytic thread intact.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456432"/>
            <a:ext cx="36118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27848" y="3566160"/>
            <a:ext cx="128016" cy="11978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69417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Not just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31089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user can ask in natural language, get clarifications when needed, and continue with saved or generated results.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TRUST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Governed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Access control is not bolted on later. It shapes the workflow from the first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874519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16001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User +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160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Signed-in identity resolves role, business coverage, allowed metrics, and document 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042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65960"/>
            <a:ext cx="1874519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12264"/>
            <a:ext cx="16001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50008"/>
            <a:ext cx="160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Checks HR scope, resolves follow-up context, and routes the request before model work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042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965960"/>
            <a:ext cx="1874519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112264"/>
            <a:ext cx="16001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Governed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50008"/>
            <a:ext cx="160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Queries, reports, visuals, and retrieval tools run only inside approved HR boundaries.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3042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1874519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112264"/>
            <a:ext cx="16001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Context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350008"/>
            <a:ext cx="160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Policy docs, metric definitions, memory, and latest-table context are injected narrowly and intentionally.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042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965960"/>
            <a:ext cx="178308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112264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5000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Returns a role-aware response, with follow-up prompts and saved-memory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069080"/>
            <a:ext cx="475488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4178808"/>
            <a:ext cx="128016" cy="110642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3068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What this prevents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90872"/>
            <a:ext cx="4251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Out-of-scope questions, unauthorized metrics, weakly related history suggestions, and accidental data leakage beyond approved business units.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069080"/>
            <a:ext cx="480060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44768" y="4178808"/>
            <a:ext cx="128016" cy="110642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30682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What this enables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690872"/>
            <a:ext cx="42976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A trustworthy HR experience where governance is visible, useful, and still lightweight enough for day-to-day analytics 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Personalization and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The home screen and sidebar behave like a memory-aware HR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01368"/>
            <a:ext cx="128016" cy="14264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938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Center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13432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Headcount shows first when available. Other KPI families appear only after the user has actually explored them. Remaining slots become concrete next-question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7472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01368"/>
            <a:ext cx="128016" cy="14264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2938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Favorite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313432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HR themes a user revisits most often stay visible and open by default, giving the workspace a personalized starting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91640"/>
            <a:ext cx="342900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1801368"/>
            <a:ext cx="128016" cy="14264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2938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Favorite / Relevant / Past Chats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313432"/>
            <a:ext cx="2926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Favorite chats are shaped by reuse and feedback, relevant chats are intentionally strict, and past chats preserve the broader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34924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858767"/>
            <a:ext cx="128016" cy="128930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986783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Substantive questions stay featured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70831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Thin shorthand follow-ups like yes, show me, or answer question 1 are filtered out of featured-history surfaces so the board keeps showing the real business question.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749039"/>
            <a:ext cx="5138928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858767"/>
            <a:ext cx="128016" cy="128930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986783"/>
            <a:ext cx="46360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Immediate refresh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370831"/>
            <a:ext cx="46360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Feedback actions and new chats refresh the personalized history state so the workspace evolves inside the same browser session.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CONVERSATION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Follow-up intelligence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The platform maintains thread continuity instead of forcing users to restate their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5204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47088"/>
            <a:ext cx="128016" cy="13807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Short follow-ups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9152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Replies like yes, break it down, job level, or show me inherit the active HR thread and latest meaningful anchor.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204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4568" y="1847088"/>
            <a:ext cx="128016" cy="138074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7510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Clarification before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59152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If a report or table request is underspecified, the assistant asks for missing columns or cuts before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291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847088"/>
            <a:ext cx="128016" cy="13807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7510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Metric explanation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59152"/>
            <a:ext cx="27889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Users can ask how a result was calculated, what columns were used, and what the formula means without tripping the guardrail.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22191"/>
            <a:ext cx="10241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9243A"/>
                </a:solidFill>
                <a:latin typeface="Aptos"/>
              </a:defRPr>
            </a:pPr>
            <a:r>
              <a:t>- Example: 'How many employees were promoted in the last year?' followed by 'show me how you calculated this metric' should return the definition, columns, formula, and snapshot caveat.</a:t>
            </a:r>
          </a:p>
          <a:p>
            <a:pPr>
              <a:spcAft>
                <a:spcPts val="600"/>
              </a:spcAft>
              <a:defRPr sz="1600">
                <a:solidFill>
                  <a:srgbClr val="19243A"/>
                </a:solidFill>
                <a:latin typeface="Aptos"/>
              </a:defRPr>
            </a:pPr>
            <a:r>
              <a:t>- If prior context is missing, the platform asks which HR metric or prior result to explain instead of refusing the request.</a:t>
            </a:r>
          </a:p>
          <a:p>
            <a:pPr>
              <a:spcAft>
                <a:spcPts val="600"/>
              </a:spcAft>
              <a:defRPr sz="1600">
                <a:solidFill>
                  <a:srgbClr val="19243A"/>
                </a:solidFill>
                <a:latin typeface="Aptos"/>
              </a:defRPr>
            </a:pPr>
            <a:r>
              <a:t>- This makes the agent more useful in real HR conversations, where trust often depends on showing the work behind the answer.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ANALYTIC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Reporting and visualization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The platform moves smoothly from question to table to chart to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01168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75104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Natural-language HR question, report request, or follow-up.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671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205740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75104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Retrieve /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12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The agent calls the right SQL or retrieval tool with scope-aware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1671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828800"/>
            <a:ext cx="201168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75104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2128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Tables, markdown sections, charts, and saved-memory cards appear in one consistent surface.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1671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828800"/>
            <a:ext cx="205740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39" y="1975104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9" y="2212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Visual options compare chart shapes and recommend the strongest story quickly.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1671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76688" y="1828800"/>
            <a:ext cx="132588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3848" y="1975104"/>
            <a:ext cx="1051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212848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Latest-table context stays live for charting and explanation follow-ups.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977639"/>
            <a:ext cx="47548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61288" y="4087367"/>
            <a:ext cx="128016" cy="11978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215383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Why this matters in a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99431"/>
            <a:ext cx="42519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You can show a clean path from KPI question to departmental breakdown, chart recommendation, and methodology explanation without resetting the thread.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977639"/>
            <a:ext cx="4617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81928" y="4087367"/>
            <a:ext cx="128016" cy="11978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15383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Why this matters in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99431"/>
            <a:ext cx="4114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same flow supports repeated HR analysis over time because outputs, feedback, and recalled insights keep feeding the personalization layer.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SYSTEM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A clean separation of UI, orchestration, tools, memory, and data access keeps the system extensible and governable.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155448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29384"/>
            <a:ext cx="1280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6712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Sidebar, KPI board, chat surface, chart actions, feedback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3055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783080"/>
            <a:ext cx="173736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929384"/>
            <a:ext cx="1463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1671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Auth-aware endpoints for stats, history, chat, recall, feedback,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13055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1783080"/>
            <a:ext cx="182880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929384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167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Routing, context assembly, access checks, tool loop, final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13055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783080"/>
            <a:ext cx="173736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DB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929384"/>
            <a:ext cx="1463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B363"/>
                </a:solidFill>
                <a:latin typeface="Aptos"/>
              </a:defRPr>
            </a:pPr>
            <a:r>
              <a:t>Tool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1671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SQL, reports, memory retrieval, context docs, visual suggestion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13055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DB363"/>
                </a:solidFill>
                <a:latin typeface="Aptos Display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783080"/>
            <a:ext cx="2423160" cy="11155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84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929384"/>
            <a:ext cx="2148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4F93"/>
                </a:solidFill>
                <a:latin typeface="Aptos"/>
              </a:defRPr>
            </a:pPr>
            <a:r>
              <a:t>Data +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16712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E8A"/>
                </a:solidFill>
                <a:latin typeface="Aptos"/>
              </a:defRPr>
            </a:pPr>
            <a:r>
              <a:t>hr_data.db, access_control.db, context_store.db, Anthropic or OpenAI-compatible LLMs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005072"/>
            <a:ext cx="31546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9848" y="4114800"/>
            <a:ext cx="128016" cy="11521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42816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Memory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268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context_store.db supports recent memory, strong-match retrieval, feedback-weighted favorites, and cached recall.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4005072"/>
            <a:ext cx="31546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4114800"/>
            <a:ext cx="128016" cy="115214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242816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Policy plane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6268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Access profiles and document tags constrain what questions, metrics, and documents are in scope for a user.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005072"/>
            <a:ext cx="324612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3296" y="4114800"/>
            <a:ext cx="128016" cy="115214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424281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Experience 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62686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The UI makes the agent feel coherent: history, charts, reports, and explanations all connect as one workflow.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Suggested demo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A short flow that shows the platform's core strengths in one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Start on the personalized workspace: call out headcount first, favorite topics, and the role / coverage / access chips.</a:t>
            </a:r>
          </a:p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Ask a direct HR question: 'What is the total headcount for my business units?'</a:t>
            </a:r>
          </a:p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Use a short follow-up: 'break it down by department' or 'job role' to show continuity.</a:t>
            </a:r>
          </a:p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Turn the result into a chart: 'build me a chart of department and attrition rate' or use Visual options.</a:t>
            </a:r>
          </a:p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Ask an explanation follow-up: 'show me how you calculated this metric' to highlight explainability.</a:t>
            </a:r>
          </a:p>
          <a:p>
            <a:pPr>
              <a:spcAft>
                <a:spcPts val="600"/>
              </a:spcAft>
              <a:defRPr sz="1800">
                <a:solidFill>
                  <a:srgbClr val="19243A"/>
                </a:solidFill>
                <a:latin typeface="Aptos"/>
              </a:defRPr>
            </a:pPr>
            <a:r>
              <a:t>- Open a saved chat from the sidebar and continue from recalled context to show recall without rerun.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28800"/>
            <a:ext cx="36576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36407" y="1938528"/>
            <a:ext cx="128016" cy="101498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20665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Best prompt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450592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Headcount, attrition, promotions, satisfaction, access-envelope questions, and chart follow-ups.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337560"/>
            <a:ext cx="36576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36407" y="3447288"/>
            <a:ext cx="128016" cy="101498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357530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Avoid in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959352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Month-over-month claims, rolling 12-month trend language, or real employee-name expectations in the IBM sample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846320"/>
            <a:ext cx="36576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36407" y="4956048"/>
            <a:ext cx="128016" cy="101498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508406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Closing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5468112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This is a governed HR analytics assistant with memory, explainability, and a polished workflow - not a generic chatbot.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43000"/>
            <a:ext cx="5212080" cy="4297680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0" y="1508760"/>
            <a:ext cx="4389120" cy="3566160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4F93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43A"/>
                </a:solidFill>
                <a:latin typeface="Aptos Display"/>
              </a:defRPr>
            </a:pPr>
            <a:r>
              <a:t>Why this platform stands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E8A"/>
                </a:solidFill>
                <a:latin typeface="Aptos"/>
              </a:defRPr>
            </a:pPr>
            <a:r>
              <a:t>A modern HR analytics platform should be governed, contextual, explainable, and actually pleasant to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3832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938528"/>
            <a:ext cx="128016" cy="11978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6654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2880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Role-based access, approved business coverage, metric-domain limits, and protected retrieval keep the experience safe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74720"/>
            <a:ext cx="33832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584448"/>
            <a:ext cx="128016" cy="11978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1246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Contextual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96512"/>
            <a:ext cx="2880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Short replies, recalled chats, and methodology questions all continue from the right HR anchor instead of resetting the conversation.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828800"/>
            <a:ext cx="33832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8" y="1938528"/>
            <a:ext cx="128016" cy="1197864"/>
          </a:xfrm>
          <a:prstGeom prst="roundRect">
            <a:avLst/>
          </a:prstGeom>
          <a:solidFill>
            <a:srgbClr val="DDB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6654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50592"/>
            <a:ext cx="2880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Users can inspect definitions, columns, formulas, and snapshot caveats behind the outputs they are asked to trust.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474720"/>
            <a:ext cx="33832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6008" y="3584448"/>
            <a:ext cx="128016" cy="119786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71246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Reusable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96512"/>
            <a:ext cx="28803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Feedback, favorites, relevant chats, and past chats turn every good answer into future product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331720"/>
            <a:ext cx="2926080" cy="1920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3607" y="2441448"/>
            <a:ext cx="128016" cy="1700784"/>
          </a:xfrm>
          <a:prstGeom prst="roundRect">
            <a:avLst/>
          </a:prstGeom>
          <a:solidFill>
            <a:srgbClr val="284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2569464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43A"/>
                </a:solidFill>
                <a:latin typeface="Aptos"/>
              </a:defRPr>
            </a:pPr>
            <a:r>
              <a:t>Cutting edge in 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953512"/>
            <a:ext cx="2423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E8A"/>
                </a:solidFill>
                <a:latin typeface="Aptos"/>
              </a:defRPr>
            </a:pPr>
            <a:r>
              <a:t>It combines agentic routing, retrieval, memory, visual reuse, and explainability in one governed HR workflow that is ready to demo and extend.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908792" cy="18288"/>
          </a:xfrm>
          <a:prstGeom prst="rect">
            <a:avLst/>
          </a:prstGeom>
          <a:solidFill>
            <a:srgbClr val="D6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E8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